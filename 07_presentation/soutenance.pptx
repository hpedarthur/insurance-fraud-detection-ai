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194560"/>
            <a:ext cx="109728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Calibri"/>
              </a:rPr>
              <a:t>Detection de fraude a l'assurance habitation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834640"/>
            <a:ext cx="109728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400" b="0">
                <a:solidFill>
                  <a:srgbClr val="CADCFC"/>
                </a:solidFill>
                <a:latin typeface="Calibri Light"/>
              </a:rPr>
              <a:t>Distinguer image authentique et image generee par IA</a:t>
            </a:r>
          </a:p>
        </p:txBody>
      </p:sp>
      <p:sp>
        <p:nvSpPr>
          <p:cNvPr id="4" name="Rectangle 3"/>
          <p:cNvSpPr/>
          <p:nvPr/>
        </p:nvSpPr>
        <p:spPr>
          <a:xfrm>
            <a:off x="411480" y="2240280"/>
            <a:ext cx="54864" cy="960120"/>
          </a:xfrm>
          <a:prstGeom prst="rect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4937760"/>
            <a:ext cx="109728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800" b="0">
                <a:solidFill>
                  <a:srgbClr val="CADCFC"/>
                </a:solidFill>
                <a:latin typeface="Calibri"/>
              </a:rPr>
              <a:t>Projet Data Mining - ISFA 2025-2026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3949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CADCFC"/>
                </a:solidFill>
                <a:latin typeface="Calibri"/>
              </a:rPr>
              <a:t>Mai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Calibri"/>
              </a:rPr>
              <a:t>Le contexte : la fraude documentaire change d'echelle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828800"/>
            <a:ext cx="5486400" cy="1463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6400" b="1">
                <a:solidFill>
                  <a:srgbClr val="F4A261"/>
                </a:solidFill>
                <a:latin typeface="Calibri"/>
              </a:rPr>
              <a:t>2,5% - 10%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520440"/>
            <a:ext cx="54864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600" b="0">
                <a:solidFill>
                  <a:srgbClr val="404D67"/>
                </a:solidFill>
                <a:latin typeface="Calibri"/>
              </a:rPr>
              <a:t>des sinistres : fraude (estimations ALFA)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023360"/>
            <a:ext cx="54864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600" b="0">
                <a:solidFill>
                  <a:srgbClr val="404D67"/>
                </a:solidFill>
                <a:latin typeface="Calibri"/>
              </a:rPr>
              <a:t>Plusieurs milliards d'euros par an en France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508760"/>
            <a:ext cx="5394960" cy="4297680"/>
          </a:xfrm>
          <a:prstGeom prst="round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691640"/>
            <a:ext cx="50292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000" b="1">
                <a:solidFill>
                  <a:srgbClr val="1E2761"/>
                </a:solidFill>
                <a:latin typeface="Calibri"/>
              </a:rPr>
              <a:t>L'arrivee des modeles generatifs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2194560"/>
            <a:ext cx="5029200" cy="34747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b="1">
                <a:solidFill>
                  <a:srgbClr val="0F1433"/>
                </a:solidFill>
                <a:latin typeface="Calibri"/>
              </a:rPr>
              <a:t>Stable Diffusion, Midjourney, DALL-E 3, Flux, Sora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0F1433"/>
                </a:solidFill>
                <a:latin typeface="Calibri"/>
              </a:rPr>
              <a:t>Une fausse photo de degat = un prompt textuel.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0F1433"/>
                </a:solidFill>
                <a:latin typeface="Calibri"/>
              </a:rPr>
              <a:t>Cout marginal nul. Cadence : un nouveau modele tous les 6 mois.</a:t>
            </a:r>
          </a:p>
          <a:p>
            <a:pPr algn="l">
              <a:lnSpc>
                <a:spcPct val="150000"/>
              </a:lnSpc>
            </a:pPr>
            <a:r>
              <a:rPr sz="600" b="0">
                <a:solidFill>
                  <a:srgbClr val="0F1433"/>
                </a:solidFill>
                <a:latin typeface="Calibri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400" b="1">
                <a:solidFill>
                  <a:srgbClr val="F4A261"/>
                </a:solidFill>
                <a:latin typeface="Calibri"/>
              </a:rPr>
              <a:t>Aucun outil assureur n'embarque nativement de detection IA generative.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126480"/>
            <a:ext cx="109728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1E2761"/>
                </a:solidFill>
                <a:latin typeface="Calibri"/>
              </a:rPr>
              <a:t>Notre projet : un filtre automatique de premier niveau qui produit un score de fraude image + texte.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Calibri"/>
              </a:rPr>
              <a:t>Architecture : deux classifieurs en cascade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404D67"/>
                </a:solidFill>
                <a:latin typeface="Calibri"/>
              </a:rPr>
              <a:t>L'image porte le score principal. Le texte enrichit la decision finale.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554480"/>
            <a:ext cx="5486400" cy="402336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691640"/>
            <a:ext cx="512064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1E2761"/>
                </a:solidFill>
                <a:latin typeface="Calibri"/>
              </a:rPr>
              <a:t>BRANCHE IMAGE  -  axe principal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94560"/>
            <a:ext cx="5120640" cy="32918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433"/>
                </a:solidFill>
                <a:latin typeface="Calibri"/>
              </a:rPr>
              <a:t>CLIP ViT-L/14 (OpenAI)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404D67"/>
                </a:solidFill>
                <a:latin typeface="Calibri"/>
              </a:rPr>
              <a:t>    embedding 768-d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433"/>
                </a:solidFill>
                <a:latin typeface="Calibri"/>
              </a:rPr>
              <a:t>BLIP-2 OPT-2.7B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404D67"/>
                </a:solidFill>
                <a:latin typeface="Calibri"/>
              </a:rPr>
              <a:t>    caption + 3 scores VQA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433"/>
                </a:solidFill>
                <a:latin typeface="Calibri"/>
              </a:rPr>
              <a:t>LLaVA-1.5-7B (4-bit)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404D67"/>
                </a:solidFill>
                <a:latin typeface="Calibri"/>
              </a:rPr>
              <a:t>    4 scores structures (JSON)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433"/>
                </a:solidFill>
                <a:latin typeface="Calibri"/>
              </a:rPr>
              <a:t>Metadonnees EXIF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404D67"/>
                </a:solidFill>
                <a:latin typeface="Calibri"/>
              </a:rPr>
              <a:t>    presence, GPS, camera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14400" y="5715000"/>
            <a:ext cx="4572000" cy="640080"/>
          </a:xfrm>
          <a:prstGeom prst="round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5852160"/>
            <a:ext cx="45720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SCORE IMAGE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554480"/>
            <a:ext cx="5486400" cy="4023360"/>
          </a:xfrm>
          <a:prstGeom prst="round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46520" y="1691640"/>
            <a:ext cx="512064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1E2761"/>
                </a:solidFill>
                <a:latin typeface="Calibri"/>
              </a:rPr>
              <a:t>BRANCHE TEXTE  -  complement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2194560"/>
            <a:ext cx="5120640" cy="32918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433"/>
                </a:solidFill>
                <a:latin typeface="Calibri"/>
              </a:rPr>
              <a:t>Features handcrafted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404D67"/>
                </a:solidFill>
                <a:latin typeface="Calibri"/>
              </a:rPr>
              <a:t>    longueur, TTR, mots emphatiques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433"/>
                </a:solidFill>
                <a:latin typeface="Calibri"/>
              </a:rPr>
              <a:t>spaCy NER (fr_core_news_md)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404D67"/>
                </a:solidFill>
                <a:latin typeface="Calibri"/>
              </a:rPr>
              <a:t>    dates, montants, lieux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433"/>
                </a:solidFill>
                <a:latin typeface="Calibri"/>
              </a:rPr>
              <a:t>Mistral-7B  -  LLM-as-judge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404D67"/>
                </a:solidFill>
                <a:latin typeface="Calibri"/>
              </a:rPr>
              <a:t>    5 scores structures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433"/>
                </a:solidFill>
                <a:latin typeface="Calibri"/>
              </a:rPr>
              <a:t>Coherence inter-champs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404D67"/>
                </a:solidFill>
                <a:latin typeface="Calibri"/>
              </a:rPr>
              <a:t>    delai, montant/m2, autorites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720840" y="5715000"/>
            <a:ext cx="4572000" cy="640080"/>
          </a:xfrm>
          <a:prstGeom prst="roundRect">
            <a:avLst/>
          </a:prstGeom>
          <a:solidFill>
            <a:srgbClr val="F4A2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20840" y="5852160"/>
            <a:ext cx="45720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SCORE MULTIMODAL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Calibri"/>
              </a:rPr>
              <a:t>Strategie donnees en deux etages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404D67"/>
                </a:solidFill>
                <a:latin typeface="Calibri"/>
              </a:rPr>
              <a:t>Pas de photos de sinistres reels en acces ouvert. On entraine sur du generique, on valide sur le domaine.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645920"/>
            <a:ext cx="5486400" cy="365760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83080"/>
            <a:ext cx="512064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1E2761"/>
                </a:solidFill>
                <a:latin typeface="Calibri"/>
              </a:rPr>
              <a:t>Etage 1  -  Generique  (entrainement)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377440"/>
            <a:ext cx="5120640" cy="2743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>
                <a:solidFill>
                  <a:srgbClr val="0F1433"/>
                </a:solidFill>
                <a:latin typeface="Calibri"/>
              </a:rPr>
              <a:t>CIFAKE  -  60 000 paires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404D67"/>
                </a:solidFill>
                <a:latin typeface="Calibri"/>
              </a:rPr>
              <a:t>    Photos CIFAR-10 reelles + Stable Diffusion 1.4</a:t>
            </a:r>
          </a:p>
          <a:p>
            <a:pPr algn="l">
              <a:lnSpc>
                <a:spcPct val="140000"/>
              </a:lnSpc>
            </a:pPr>
            <a:r>
              <a:rPr sz="1400" b="1">
                <a:solidFill>
                  <a:srgbClr val="0F1433"/>
                </a:solidFill>
                <a:latin typeface="Calibri"/>
              </a:rPr>
              <a:t>ArtiFact (subset)  -  ~20 000</a:t>
            </a:r>
          </a:p>
          <a:p>
            <a:pPr algn="l">
              <a:lnSpc>
                <a:spcPct val="140000"/>
              </a:lnSpc>
            </a:pPr>
            <a:r>
              <a:rPr sz="1300" b="0">
                <a:solidFill>
                  <a:srgbClr val="404D67"/>
                </a:solidFill>
                <a:latin typeface="Calibri"/>
              </a:rPr>
              <a:t>    25 generateurs differents (diversite)</a:t>
            </a:r>
          </a:p>
          <a:p>
            <a:pPr algn="l">
              <a:lnSpc>
                <a:spcPct val="140000"/>
              </a:lnSpc>
            </a:pPr>
            <a:r>
              <a:rPr sz="400" b="0">
                <a:solidFill>
                  <a:srgbClr val="0F1433"/>
                </a:solidFill>
                <a:latin typeface="Calibri"/>
              </a:rPr>
              <a:t/>
            </a:r>
          </a:p>
          <a:p>
            <a:pPr algn="l">
              <a:lnSpc>
                <a:spcPct val="140000"/>
              </a:lnSpc>
            </a:pPr>
            <a:r>
              <a:rPr sz="1500" b="1">
                <a:solidFill>
                  <a:srgbClr val="1E2761"/>
                </a:solidFill>
                <a:latin typeface="Calibri"/>
              </a:rPr>
              <a:t>Volume total : ~80 000 images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645920"/>
            <a:ext cx="5486400" cy="3657600"/>
          </a:xfrm>
          <a:prstGeom prst="round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520" y="1783080"/>
            <a:ext cx="512064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1E2761"/>
                </a:solidFill>
                <a:latin typeface="Calibri"/>
              </a:rPr>
              <a:t>Etage 2  -  Domaine habitation  (validation)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520" y="2377440"/>
            <a:ext cx="5120640" cy="2743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433"/>
                </a:solidFill>
                <a:latin typeface="Calibri"/>
              </a:rPr>
              <a:t>Wikimedia + Pexels  -  ~3 000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404D67"/>
                </a:solidFill>
                <a:latin typeface="Calibri"/>
              </a:rPr>
              <a:t>    Vraies photos de degats (4 categories)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433"/>
                </a:solidFill>
                <a:latin typeface="Calibri"/>
              </a:rPr>
              <a:t>SDXL Turbo (notre generation)  -  1 500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404D67"/>
                </a:solidFill>
                <a:latin typeface="Calibri"/>
              </a:rPr>
              <a:t>    Synthetiques cibles habitation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0F1433"/>
                </a:solidFill>
                <a:latin typeface="Calibri"/>
              </a:rPr>
              <a:t>Photos perso equipe  -  ~60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404D67"/>
                </a:solidFill>
                <a:latin typeface="Calibri"/>
              </a:rPr>
              <a:t>    Smartphones reels avec EXIF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4A261"/>
                </a:solidFill>
                <a:latin typeface="Calibri"/>
              </a:rPr>
              <a:t>Cross-generateur Flux/SD1.5  -  200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404D67"/>
                </a:solidFill>
                <a:latin typeface="Calibri"/>
              </a:rPr>
              <a:t>    Test de generalisation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5852160"/>
            <a:ext cx="109728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4 categories couvertes : degat des eaux  /  incendie  /  bris de vitre  /  vandalisme-cambriolage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Calibri"/>
              </a:rPr>
              <a:t>Modele image  -  resultat principal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463040"/>
            <a:ext cx="4572000" cy="3200400"/>
          </a:xfrm>
          <a:prstGeom prst="round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783080"/>
            <a:ext cx="45720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800" b="0">
                <a:solidFill>
                  <a:srgbClr val="CADCFC"/>
                </a:solidFill>
                <a:latin typeface="Calibri"/>
              </a:rPr>
              <a:t>ROC-AUC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468880"/>
            <a:ext cx="4572000" cy="1463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8800" b="1">
                <a:solidFill>
                  <a:srgbClr val="FFFFFF"/>
                </a:solidFill>
                <a:latin typeface="Calibri"/>
              </a:rPr>
              <a:t>[X.XX]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45720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400" b="0">
                <a:solidFill>
                  <a:srgbClr val="CADCFC"/>
                </a:solidFill>
                <a:latin typeface="Calibri"/>
              </a:rPr>
              <a:t>sur generic_test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1463040"/>
            <a:ext cx="621792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000" b="1">
                <a:solidFill>
                  <a:srgbClr val="1E2761"/>
                </a:solidFill>
                <a:latin typeface="Calibri"/>
              </a:rPr>
              <a:t>Trois algorithmes compares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0" y="2103120"/>
            <a:ext cx="6217920" cy="777240"/>
          </a:xfrm>
          <a:prstGeom prst="round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0" y="2148839"/>
            <a:ext cx="347472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Logistic Regression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0" y="2514600"/>
            <a:ext cx="347472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404D67"/>
                </a:solidFill>
                <a:latin typeface="Calibri"/>
              </a:rPr>
              <a:t>Baseline rapide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0" y="2267712"/>
            <a:ext cx="18288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2200" b="1">
                <a:solidFill>
                  <a:srgbClr val="F4A261"/>
                </a:solidFill>
                <a:latin typeface="Calibri"/>
              </a:rPr>
              <a:t>[X.XX]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0" y="3017520"/>
            <a:ext cx="6217920" cy="777240"/>
          </a:xfrm>
          <a:prstGeom prst="round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0" y="3063239"/>
            <a:ext cx="347472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Random Forest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3429000"/>
            <a:ext cx="347472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404D67"/>
                </a:solidFill>
                <a:latin typeface="Calibri"/>
              </a:rPr>
              <a:t>Robuste, peu d'hyperparams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3182112"/>
            <a:ext cx="18288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2200" b="1">
                <a:solidFill>
                  <a:srgbClr val="F4A261"/>
                </a:solidFill>
                <a:latin typeface="Calibri"/>
              </a:rPr>
              <a:t>[X.XX]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0" y="3931920"/>
            <a:ext cx="6217920" cy="777240"/>
          </a:xfrm>
          <a:prstGeom prst="round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0" y="3977639"/>
            <a:ext cx="347472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500" b="1">
                <a:solidFill>
                  <a:srgbClr val="1E2761"/>
                </a:solidFill>
                <a:latin typeface="Calibri"/>
              </a:rPr>
              <a:t>XGBoost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4343400"/>
            <a:ext cx="3474720" cy="3200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404D67"/>
                </a:solidFill>
                <a:latin typeface="Calibri"/>
              </a:rPr>
              <a:t>Retenu - meilleur F1, SHAP-friendly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0" y="4096511"/>
            <a:ext cx="18288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r"/>
            <a:r>
              <a:rPr sz="2200" b="1">
                <a:solidFill>
                  <a:srgbClr val="F4A261"/>
                </a:solidFill>
                <a:latin typeface="Calibri"/>
              </a:rPr>
              <a:t>[X.XX]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937760"/>
            <a:ext cx="1124712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1E2761"/>
                </a:solidFill>
                <a:latin typeface="Calibri"/>
              </a:rPr>
              <a:t>Transferabilite au domaine habitation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5349240"/>
            <a:ext cx="11247120" cy="1371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0F1433"/>
                </a:solidFill>
                <a:latin typeface="Calibri"/>
              </a:rPr>
              <a:t>Train sur generique. Test sur photos reelles habitation + SDXL : ROC-AUC = [X.XX]</a:t>
            </a:r>
          </a:p>
          <a:p>
            <a:pPr algn="l">
              <a:lnSpc>
                <a:spcPct val="115000"/>
              </a:lnSpc>
            </a:pPr>
            <a:r>
              <a:rPr sz="1400" b="0">
                <a:solidFill>
                  <a:srgbClr val="0F1433"/>
                </a:solidFill>
                <a:latin typeface="Calibri"/>
              </a:rPr>
              <a:t>Test cross-generateur (Flux/SD1.5 jamais vus) : ROC-AUC = [X.XX]</a:t>
            </a:r>
          </a:p>
          <a:p>
            <a:pPr algn="l">
              <a:lnSpc>
                <a:spcPct val="115000"/>
              </a:lnSpc>
            </a:pPr>
            <a:r>
              <a:rPr sz="1400" b="1">
                <a:solidFill>
                  <a:srgbClr val="F4A261"/>
                </a:solidFill>
                <a:latin typeface="Calibri"/>
              </a:rPr>
              <a:t>Le modele apprend une signature generale, pas un generateur specifique.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Calibri"/>
              </a:rPr>
              <a:t>Apport de la modalite texte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404D67"/>
                </a:solidFill>
                <a:latin typeface="Calibri"/>
              </a:rPr>
              <a:t>Combien le texte ajoute-t-il a la performance image seule ?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828800"/>
            <a:ext cx="5212080" cy="329184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965960"/>
            <a:ext cx="521208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E2761"/>
                </a:solidFill>
                <a:latin typeface="Calibri"/>
              </a:rPr>
              <a:t>Image seule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651760"/>
            <a:ext cx="5212080" cy="1371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8000" b="1">
                <a:solidFill>
                  <a:srgbClr val="1E2761"/>
                </a:solidFill>
                <a:latin typeface="Calibri"/>
              </a:rPr>
              <a:t>[X.XX]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4023360"/>
            <a:ext cx="521208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400" b="0">
                <a:solidFill>
                  <a:srgbClr val="404D67"/>
                </a:solidFill>
                <a:latin typeface="Calibri"/>
              </a:rPr>
              <a:t>ROC-AUC sur domain_test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480560"/>
            <a:ext cx="521208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400" b="0">
                <a:solidFill>
                  <a:srgbClr val="404D67"/>
                </a:solidFill>
                <a:latin typeface="Calibri"/>
              </a:rPr>
              <a:t>Recall fraude : [X.XX]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355080" y="1828800"/>
            <a:ext cx="5212080" cy="3291840"/>
          </a:xfrm>
          <a:prstGeom prst="round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55080" y="1965960"/>
            <a:ext cx="521208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2000" b="1">
                <a:solidFill>
                  <a:srgbClr val="1E2761"/>
                </a:solidFill>
                <a:latin typeface="Calibri"/>
              </a:rPr>
              <a:t>Multimodal (image + texte)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5080" y="2651760"/>
            <a:ext cx="5212080" cy="1371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8000" b="1">
                <a:solidFill>
                  <a:srgbClr val="F4A261"/>
                </a:solidFill>
                <a:latin typeface="Calibri"/>
              </a:rPr>
              <a:t>[X.XX]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5080" y="4023360"/>
            <a:ext cx="521208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400" b="0">
                <a:solidFill>
                  <a:srgbClr val="404D67"/>
                </a:solidFill>
                <a:latin typeface="Calibri"/>
              </a:rPr>
              <a:t>ROC-AUC sur domain_test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4480560"/>
            <a:ext cx="521208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400" b="0">
                <a:solidFill>
                  <a:srgbClr val="404D67"/>
                </a:solidFill>
                <a:latin typeface="Calibri"/>
              </a:rPr>
              <a:t>Recall fraude : [X.XX]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486400"/>
            <a:ext cx="10927080" cy="914400"/>
          </a:xfrm>
          <a:prstGeom prst="roundRect">
            <a:avLst/>
          </a:prstGeom>
          <a:solidFill>
            <a:srgbClr val="1E27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5650992"/>
            <a:ext cx="1092708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2200" b="1">
                <a:solidFill>
                  <a:srgbClr val="FFFFFF"/>
                </a:solidFill>
                <a:latin typeface="Calibri"/>
              </a:rPr>
              <a:t>Gain : +[X.XX] points de ROC-AUC, +[X.XX] points de recall fraude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Demonstration  -  un vrai outil de gestion de sinistre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50292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000" b="1">
                <a:solidFill>
                  <a:srgbClr val="F4A261"/>
                </a:solidFill>
                <a:latin typeface="Calibri"/>
              </a:rPr>
              <a:t>Application Streamlit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011680"/>
            <a:ext cx="5029200" cy="41148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Formulaire structure 7 sections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CADCFC"/>
                </a:solidFill>
                <a:latin typeface="Calibri"/>
              </a:rPr>
              <a:t>    coordonnees, bien, sinistre, estimation,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CADCFC"/>
                </a:solidFill>
                <a:latin typeface="Calibri"/>
              </a:rPr>
              <a:t>    tiers, mesures conservatoires, photo</a:t>
            </a:r>
          </a:p>
          <a:p>
            <a:pPr algn="l">
              <a:lnSpc>
                <a:spcPct val="120000"/>
              </a:lnSpc>
            </a:pPr>
            <a:r>
              <a:rPr sz="600" b="0">
                <a:solidFill>
                  <a:srgbClr val="0F1433"/>
                </a:solidFill>
                <a:latin typeface="Calibri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Decision en 3 niveaux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CADCFC"/>
                </a:solidFill>
                <a:latin typeface="Calibri"/>
              </a:rPr>
              <a:t>    Legitime  /  A expertiser  /  Fraude probable</a:t>
            </a:r>
          </a:p>
          <a:p>
            <a:pPr algn="l">
              <a:lnSpc>
                <a:spcPct val="120000"/>
              </a:lnSpc>
            </a:pPr>
            <a:r>
              <a:rPr sz="600" b="0">
                <a:solidFill>
                  <a:srgbClr val="0F1433"/>
                </a:solidFill>
                <a:latin typeface="Calibri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Seuils calibres automatiquement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CADCFC"/>
                </a:solidFill>
                <a:latin typeface="Calibri"/>
              </a:rPr>
              <a:t>    max recall sous contrainte precision &gt;= 0.85</a:t>
            </a:r>
          </a:p>
          <a:p>
            <a:pPr algn="l">
              <a:lnSpc>
                <a:spcPct val="120000"/>
              </a:lnSpc>
            </a:pPr>
            <a:r>
              <a:rPr sz="600" b="0">
                <a:solidFill>
                  <a:srgbClr val="0F1433"/>
                </a:solidFill>
                <a:latin typeface="Calibri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500" b="1">
                <a:solidFill>
                  <a:srgbClr val="FFFFFF"/>
                </a:solidFill>
                <a:latin typeface="Calibri"/>
              </a:rPr>
              <a:t>Heatmap d'explication par occlusion</a:t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CADCFC"/>
                </a:solidFill>
                <a:latin typeface="Calibri"/>
              </a:rPr>
              <a:t>    zones de l'image utilisees par le modele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463040"/>
            <a:ext cx="5486400" cy="457200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800" y="1691640"/>
            <a:ext cx="512064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000" b="1">
                <a:solidFill>
                  <a:srgbClr val="1E2761"/>
                </a:solidFill>
                <a:latin typeface="Calibri"/>
              </a:rPr>
              <a:t>Demonstration live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0" y="2286000"/>
            <a:ext cx="5120640" cy="36576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>
                <a:solidFill>
                  <a:srgbClr val="0F1433"/>
                </a:solidFill>
                <a:latin typeface="Calibri"/>
              </a:rPr>
              <a:t>Cas legitime  -  photo smartphone d'un degat reel + texte specifique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404D67"/>
                </a:solidFill>
                <a:latin typeface="Calibri"/>
              </a:rPr>
              <a:t>    score image  -  faible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404D67"/>
                </a:solidFill>
                <a:latin typeface="Calibri"/>
              </a:rPr>
              <a:t>    score multimodal  -  faible</a:t>
            </a:r>
          </a:p>
          <a:p>
            <a:pPr algn="l">
              <a:lnSpc>
                <a:spcPct val="120000"/>
              </a:lnSpc>
            </a:pPr>
            <a:r>
              <a:rPr sz="1200" b="1">
                <a:solidFill>
                  <a:srgbClr val="1E2761"/>
                </a:solidFill>
                <a:latin typeface="Calibri"/>
              </a:rPr>
              <a:t>    decision  -  Legitime</a:t>
            </a:r>
          </a:p>
          <a:p>
            <a:pPr algn="l">
              <a:lnSpc>
                <a:spcPct val="120000"/>
              </a:lnSpc>
            </a:pPr>
            <a:r>
              <a:rPr sz="600" b="0">
                <a:solidFill>
                  <a:srgbClr val="0F1433"/>
                </a:solidFill>
                <a:latin typeface="Calibri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300" b="0">
                <a:solidFill>
                  <a:srgbClr val="0F1433"/>
                </a:solidFill>
                <a:latin typeface="Calibri"/>
              </a:rPr>
              <a:t>Cas frauduleux  -  image SDXL + texte vague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404D67"/>
                </a:solidFill>
                <a:latin typeface="Calibri"/>
              </a:rPr>
              <a:t>    score image  -  eleve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404D67"/>
                </a:solidFill>
                <a:latin typeface="Calibri"/>
              </a:rPr>
              <a:t>    score multimodal  -  eleve</a:t>
            </a:r>
          </a:p>
          <a:p>
            <a:pPr algn="l">
              <a:lnSpc>
                <a:spcPct val="120000"/>
              </a:lnSpc>
            </a:pPr>
            <a:r>
              <a:rPr sz="1200" b="1">
                <a:solidFill>
                  <a:srgbClr val="F4A261"/>
                </a:solidFill>
                <a:latin typeface="Calibri"/>
              </a:rPr>
              <a:t>    decision  -  Fraude probable</a:t>
            </a:r>
          </a:p>
          <a:p>
            <a:pPr algn="l">
              <a:lnSpc>
                <a:spcPct val="120000"/>
              </a:lnSpc>
            </a:pPr>
            <a:r>
              <a:rPr sz="600" b="0">
                <a:solidFill>
                  <a:srgbClr val="0F1433"/>
                </a:solidFill>
                <a:latin typeface="Calibri"/>
              </a:rPr>
              <a:t/>
            </a:r>
          </a:p>
          <a:p>
            <a:pPr algn="l">
              <a:lnSpc>
                <a:spcPct val="120000"/>
              </a:lnSpc>
            </a:pPr>
            <a:r>
              <a:rPr sz="1300" b="1">
                <a:solidFill>
                  <a:srgbClr val="0F1433"/>
                </a:solidFill>
                <a:latin typeface="Calibri"/>
              </a:rPr>
              <a:t>Deploye sur HuggingFace Spaces</a:t>
            </a:r>
          </a:p>
          <a:p>
            <a:pPr algn="l">
              <a:lnSpc>
                <a:spcPct val="120000"/>
              </a:lnSpc>
            </a:pPr>
            <a:r>
              <a:rPr sz="1200" b="0">
                <a:solidFill>
                  <a:srgbClr val="404D67"/>
                </a:solidFill>
                <a:latin typeface="Consolas"/>
              </a:rPr>
              <a:t>    URL : huggingface.co/spaces/...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Calibri"/>
              </a:rPr>
              <a:t>Explicabilite  -  pourquoi le modele dit 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404D67"/>
                </a:solidFill>
                <a:latin typeface="Calibri"/>
              </a:rPr>
              <a:t>Trois mecanismes complementaires pour justifier chaque verdict.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737360"/>
            <a:ext cx="3749039" cy="429768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338328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1E2761"/>
                </a:solidFill>
                <a:latin typeface="Calibri"/>
              </a:rPr>
              <a:t>Occlusion sensitivity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468880"/>
            <a:ext cx="3383280" cy="22860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0F1433"/>
                </a:solidFill>
                <a:latin typeface="Calibri"/>
              </a:rPr>
              <a:t>Patch glissant sur l'image. La zone qui fait chuter le score = zone que le modele utilise.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5212080"/>
            <a:ext cx="338328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F4A261"/>
                </a:solidFill>
                <a:latin typeface="Calibri"/>
              </a:rPr>
              <a:t>Model-agnostic, fonctionne avec sklearn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1737360"/>
            <a:ext cx="3749039" cy="4297680"/>
          </a:xfrm>
          <a:prstGeom prst="roundRect">
            <a:avLst/>
          </a:prstGeom>
          <a:solidFill>
            <a:srgbClr val="F1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0" y="1874519"/>
            <a:ext cx="338328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1E2761"/>
                </a:solidFill>
                <a:latin typeface="Calibri"/>
              </a:rPr>
              <a:t>SHAP TreeExplainer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468880"/>
            <a:ext cx="3383280" cy="22860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0F1433"/>
                </a:solidFill>
                <a:latin typeface="Calibri"/>
              </a:rPr>
              <a:t>Decomposition de chaque prediction en contribution par feature. Importance globale ET locale.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5212080"/>
            <a:ext cx="338328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F4A261"/>
                </a:solidFill>
                <a:latin typeface="Calibri"/>
              </a:rPr>
              <a:t>Standard XAI pour XGBoost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21040" y="1737360"/>
            <a:ext cx="3749039" cy="4297680"/>
          </a:xfrm>
          <a:prstGeom prst="roundRect">
            <a:avLst/>
          </a:prstGeom>
          <a:solidFill>
            <a:srgbClr val="CADC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503920" y="1874519"/>
            <a:ext cx="338328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800" b="1">
                <a:solidFill>
                  <a:srgbClr val="1E2761"/>
                </a:solidFill>
                <a:latin typeface="Calibri"/>
              </a:rPr>
              <a:t>Decomposition par axe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468880"/>
            <a:ext cx="3383280" cy="22860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0F1433"/>
                </a:solidFill>
                <a:latin typeface="Calibri"/>
              </a:rPr>
              <a:t>Score image + score multimodal + features texte saillantes affichees a l'utilisateur.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03920" y="5212080"/>
            <a:ext cx="338328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200" b="1">
                <a:solidFill>
                  <a:srgbClr val="F4A261"/>
                </a:solidFill>
                <a:latin typeface="Calibri"/>
              </a:rPr>
              <a:t>Couche metier interpretable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263640"/>
            <a:ext cx="11247120" cy="36576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300" b="0">
                <a:solidFill>
                  <a:srgbClr val="404D67"/>
                </a:solidFill>
                <a:latin typeface="Calibri"/>
              </a:rPr>
              <a:t>Tous trois exposes dans l'interface utilisateur. Critique pour la conformite AI Act.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9728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3000" b="1">
                <a:solidFill>
                  <a:srgbClr val="1E2761"/>
                </a:solidFill>
                <a:latin typeface="Calibri"/>
              </a:rPr>
              <a:t>Limites identifiees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60120"/>
            <a:ext cx="1097280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404D67"/>
                </a:solidFill>
                <a:latin typeface="Calibri"/>
              </a:rPr>
              <a:t>On les connait, on les assume, on indique comment les lever.</a:t>
            </a:r>
          </a:p>
        </p:txBody>
      </p:sp>
      <p:sp>
        <p:nvSpPr>
          <p:cNvPr id="4" name="Oval 3"/>
          <p:cNvSpPr/>
          <p:nvPr/>
        </p:nvSpPr>
        <p:spPr>
          <a:xfrm>
            <a:off x="525780" y="1714500"/>
            <a:ext cx="502920" cy="502920"/>
          </a:xfrm>
          <a:prstGeom prst="ellipse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0352" y="1755648"/>
            <a:ext cx="50292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22860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1E2761"/>
                </a:solidFill>
                <a:latin typeface="Calibri"/>
              </a:rPr>
              <a:t>Donnees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1737360"/>
            <a:ext cx="7863840" cy="7772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0F1433"/>
                </a:solidFill>
                <a:latin typeface="Calibri"/>
              </a:rPr>
              <a:t>Pas d'acces aux photos d'assures reels (confidentiel). Generalisation au vrai monde a confirmer.</a:t>
            </a:r>
          </a:p>
        </p:txBody>
      </p:sp>
      <p:sp>
        <p:nvSpPr>
          <p:cNvPr id="8" name="Oval 7"/>
          <p:cNvSpPr/>
          <p:nvPr/>
        </p:nvSpPr>
        <p:spPr>
          <a:xfrm>
            <a:off x="525780" y="2583179"/>
            <a:ext cx="502920" cy="502920"/>
          </a:xfrm>
          <a:prstGeom prst="ellipse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30352" y="2624327"/>
            <a:ext cx="50292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560320"/>
            <a:ext cx="22860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1E2761"/>
                </a:solidFill>
                <a:latin typeface="Calibri"/>
              </a:rPr>
              <a:t>Generateurs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2606039"/>
            <a:ext cx="7863840" cy="7772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0F1433"/>
                </a:solidFill>
                <a:latin typeface="Calibri"/>
              </a:rPr>
              <a:t>Cycle de 6 mois entre nouveaux modeles. Reentrainement regulier exige.</a:t>
            </a:r>
          </a:p>
        </p:txBody>
      </p:sp>
      <p:sp>
        <p:nvSpPr>
          <p:cNvPr id="12" name="Oval 11"/>
          <p:cNvSpPr/>
          <p:nvPr/>
        </p:nvSpPr>
        <p:spPr>
          <a:xfrm>
            <a:off x="525780" y="3451860"/>
            <a:ext cx="502920" cy="502920"/>
          </a:xfrm>
          <a:prstGeom prst="ellipse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3493008"/>
            <a:ext cx="50292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429000"/>
            <a:ext cx="22860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1E2761"/>
                </a:solidFill>
                <a:latin typeface="Calibri"/>
              </a:rPr>
              <a:t>Adversarial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0480" y="3474720"/>
            <a:ext cx="7863840" cy="7772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0F1433"/>
                </a:solidFill>
                <a:latin typeface="Calibri"/>
              </a:rPr>
              <a:t>Image generee puis re-photographiee a l'ecran : non traite. Forensics passif requis.</a:t>
            </a:r>
          </a:p>
        </p:txBody>
      </p:sp>
      <p:sp>
        <p:nvSpPr>
          <p:cNvPr id="16" name="Oval 15"/>
          <p:cNvSpPr/>
          <p:nvPr/>
        </p:nvSpPr>
        <p:spPr>
          <a:xfrm>
            <a:off x="525780" y="4320540"/>
            <a:ext cx="502920" cy="502920"/>
          </a:xfrm>
          <a:prstGeom prst="ellipse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0352" y="4361688"/>
            <a:ext cx="50292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4297680"/>
            <a:ext cx="22860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1E2761"/>
                </a:solidFill>
                <a:latin typeface="Calibri"/>
              </a:rPr>
              <a:t>Couverture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40480" y="4343400"/>
            <a:ext cx="7863840" cy="7772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0F1433"/>
                </a:solidFill>
                <a:latin typeface="Calibri"/>
              </a:rPr>
              <a:t>4 categories de sinistre. Une categorie rare sera mal classee.</a:t>
            </a:r>
          </a:p>
        </p:txBody>
      </p:sp>
      <p:sp>
        <p:nvSpPr>
          <p:cNvPr id="20" name="Oval 19"/>
          <p:cNvSpPr/>
          <p:nvPr/>
        </p:nvSpPr>
        <p:spPr>
          <a:xfrm>
            <a:off x="525780" y="5189220"/>
            <a:ext cx="502920" cy="502920"/>
          </a:xfrm>
          <a:prstGeom prst="ellipse">
            <a:avLst/>
          </a:prstGeom>
          <a:solidFill>
            <a:srgbClr val="F4A2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0352" y="5230368"/>
            <a:ext cx="50292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Calibri"/>
              </a:rPr>
              <a:t>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5166360"/>
            <a:ext cx="2286000" cy="5486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1E2761"/>
                </a:solidFill>
                <a:latin typeface="Calibri"/>
              </a:rPr>
              <a:t>Texte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40480" y="5212080"/>
            <a:ext cx="7863840" cy="77724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300" b="0">
                <a:solidFill>
                  <a:srgbClr val="0F1433"/>
                </a:solidFill>
                <a:latin typeface="Calibri"/>
              </a:rPr>
              <a:t>Declarations d'entrainement generees par Mistral, pas ecrites par de vrais assures.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276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640080"/>
            <a:ext cx="109728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4200" b="1">
                <a:solidFill>
                  <a:srgbClr val="FFFFFF"/>
                </a:solidFill>
                <a:latin typeface="Calibri"/>
              </a:rPr>
              <a:t>A retenir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920240"/>
            <a:ext cx="356616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6400" b="1">
                <a:solidFill>
                  <a:srgbClr val="F4A261"/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3108960"/>
            <a:ext cx="356616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Pipeline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3566160" cy="22860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CADCFC"/>
                </a:solidFill>
                <a:latin typeface="Calibri"/>
              </a:rPr>
              <a:t>CLIP + BLIP-2 + LLaVA + Mistral, deux classifieurs en cascade.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62272" y="1920240"/>
            <a:ext cx="356616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6400" b="1">
                <a:solidFill>
                  <a:srgbClr val="F4A261"/>
                </a:solidFill>
                <a:latin typeface="Calibri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62272" y="3108960"/>
            <a:ext cx="356616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Performance demontree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62272" y="3611880"/>
            <a:ext cx="3566160" cy="22860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CADCFC"/>
                </a:solidFill>
                <a:latin typeface="Calibri"/>
              </a:rPr>
              <a:t>ROC-AUC &gt; [X.XX] sur generique, transfert valide sur domaine habitation.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84463" y="1920240"/>
            <a:ext cx="3566160" cy="73152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6400" b="1">
                <a:solidFill>
                  <a:srgbClr val="F4A261"/>
                </a:solidFill>
                <a:latin typeface="Calibri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84463" y="3108960"/>
            <a:ext cx="3566160" cy="4572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  <a:latin typeface="Calibri"/>
              </a:rPr>
              <a:t>Outil utilisable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84463" y="3611880"/>
            <a:ext cx="3566160" cy="228600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CADCFC"/>
                </a:solidFill>
                <a:latin typeface="Calibri"/>
              </a:rPr>
              <a:t>App Streamlit deployee, formulaire de gestion de sinistre realiste.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943600"/>
            <a:ext cx="10972800" cy="640080"/>
          </a:xfrm>
          <a:prstGeom prst="rect">
            <a:avLst/>
          </a:prstGeom>
          <a:noFill/>
        </p:spPr>
        <p:txBody>
          <a:bodyPr wrap="square" lIns="45720" rIns="45720" tIns="27432" bIns="27432">
            <a:spAutoFit/>
          </a:bodyPr>
          <a:lstStyle/>
          <a:p>
            <a:pPr algn="ctr"/>
            <a:r>
              <a:rPr sz="3600" b="1">
                <a:solidFill>
                  <a:srgbClr val="F4A261"/>
                </a:solidFill>
                <a:latin typeface="Calibri"/>
              </a:rPr>
              <a:t>Questions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