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Détection de fraude à l'assurance habitation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CADCFC"/>
                </a:solidFill>
                <a:latin typeface="Calibri"/>
              </a:rPr>
              <a:t>Distinguer image authentique et image générée par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Projet Data Mining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ISFA — Promotion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Le contexte : la fraude documentaire change d'échelle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657600" cy="25603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2,5 % – 10 %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des sinistres = fraude
(estimations ALFA)
plusieurs milliards € / 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7040880" cy="256032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463040"/>
            <a:ext cx="6766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L'arrivée des modèles génératifs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6766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66582"/>
                </a:solidFill>
                <a:latin typeface="Calibri"/>
              </a:rPr>
              <a:t>Stable Diffusion · Midjourney · DALL-E 3 · Flux · Sora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Une fausse photo de dégât = un prompt textuel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Coût marginal nul, plus de barrière technique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Cycle : un nouveau modèle majeur tous les 6 mois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11064240" cy="2286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latin typeface="Calibri"/>
              </a:rPr>
              <a:t>Aucun outil assureur n'embarque nativement de détection IA générative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Notre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Un filtre automatique de premier niveau qui produit un score de fraude par dossier,
combinant analyse d'image (CLIP + LMM) et cohérence textuelle (LLM-as-judge).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Architecture : deux classifieurs en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66582"/>
                </a:solidFill>
                <a:latin typeface="Calibri"/>
              </a:rPr>
              <a:t>L'image porte le score principal · le texte enrichit la décision finale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402336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BRANCHE IMAGE — axe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CLIP ViT-L/14 (OpenAI)  →  embedding 768 dimensions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BLIP-2 OPT-2.7B  →  caption + 3 scores VQA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LLaVA-1.5-7B (4-bit)  →  4 scores forensiques (JSON)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Métadonnées EXIF  →  présence, GPS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4846320"/>
            <a:ext cx="3657600" cy="6400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8463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Score image  ∈  [0, 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5486400" cy="402336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4864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BRANCHE TEXTE — complément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Features handcrafted  →  longueur, TTR, mots emphatiques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spaCy NER (fr_core_news_md)  →  dates, montants, lieux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Mistral-7B  —  LLM-as-judge  →  5 scores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Cohérence inter-champs  →  délai, montant/m², autorités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5852160"/>
            <a:ext cx="7406640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5852160"/>
            <a:ext cx="74066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Score multimodal  =  XGBoost(score_image, features texte)  →  décision à 3 niveaux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Stratégie données en deux étages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66582"/>
                </a:solidFill>
                <a:latin typeface="Calibri"/>
              </a:rPr>
              <a:t>Pas de photos de sinistres réels en accès ouvert. On entraîne sur du générique, on valide sur le domaine.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301752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ÉTAGE 1 — Générique  (entraînement)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66582"/>
                </a:solidFill>
                <a:latin typeface="Calibri"/>
              </a:rPr>
              <a:t>Frontière générale photo réelle vs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CIFAKE  —  ~22 000 images (CIFAR-10 + SD 1.4)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ArtiFact subset  —  ~7 900 images (25 générateurs)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Volume total étage 1  →  29 900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486400" cy="301752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ÉTAGE 2 — Domaine habitation  (validation)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66582"/>
                </a:solidFill>
                <a:latin typeface="Calibri"/>
              </a:rPr>
              <a:t>Transfert au domaine cible : sinistres habitation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Wikimedia Commons  —  ~800 (dégâts réels)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SDXL Turbo (notre génération)  —  ~2 200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Volume total étage 2  →  3 000  •  paires image+texte : 1 170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DATASET CONSOLIDÉ  •  31 062 images après dédup pHash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4 catégories : dégât des eaux  ·  incendie  ·  bris de vitre  ·  vandalisme/cambriolage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66582"/>
                </a:solidFill>
                <a:latin typeface="Calibri"/>
              </a:rPr>
              <a:t>Texte : 1 200 déclarations synthétiques générées par Mistral-7B (légitime + frauduleux),  appariées aux images domain par catégorie + label.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Modèle image  —  résultat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66582"/>
                </a:solidFill>
                <a:latin typeface="Calibri"/>
              </a:rPr>
              <a:t>Embedding CLIP de 768-d, classifieur linéaire L2 retenu après comparaison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57600" cy="2560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6576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0,74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sur generic_test (n = 2 990)
(LogReg, 770 features)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54480"/>
            <a:ext cx="7040880" cy="182880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6766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Trois algorithmes comparés  (validation 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Logistic Regression  ✓ retenu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057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300" b="1" i="0">
                <a:solidFill>
                  <a:srgbClr val="E74C3C"/>
                </a:solidFill>
                <a:latin typeface="Calibri"/>
              </a:rPr>
              <a:t>AUC = 0,76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231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  <a:latin typeface="Calibri"/>
              </a:rPr>
              <a:t>AUC = 0,67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7889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788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  <a:latin typeface="Calibri"/>
              </a:rPr>
              <a:t>AUC = 0,71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520440"/>
            <a:ext cx="7040880" cy="228600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611880"/>
            <a:ext cx="6766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Transférabilité au domaine habitation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676656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Test cross-générateur dans le test set :
  • SD 1.4 (vu en train via CIFAKE)  →  88 % de détection
  • SDXL Turbo (jamais vu en train)  →  18 % de détection
Le modèle apprend la signature des générateurs anciens, pas SDXL Turbo.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→ Image seule insuffisante sur le domaine cible. La modalité texte va combler l'écart (slide 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Apport de la modalité 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66582"/>
                </a:solidFill>
                <a:latin typeface="Calibri"/>
              </a:rPr>
              <a:t>Combien le texte ajoute-t-il à la performance image seule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03520" cy="411480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566582"/>
                </a:solidFill>
                <a:latin typeface="Calibri"/>
              </a:rPr>
              <a:t>Image seule  (CLIP)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377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0" b="1" i="0">
                <a:solidFill>
                  <a:srgbClr val="566582"/>
                </a:solidFill>
                <a:latin typeface="Calibri"/>
              </a:rPr>
              <a:t>0,39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ROC-AUC  sur domain_test (n = 585)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Calibri"/>
              </a:rPr>
              <a:t>Recall fraude :  18 %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566582"/>
                </a:solidFill>
                <a:latin typeface="Calibri"/>
              </a:rPr>
              <a:t>Le modèle image seul s'effondre sur SDXL Turbo non vu en training.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554480"/>
            <a:ext cx="5303520" cy="411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916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Calibri"/>
              </a:rPr>
              <a:t>Multimodal  (image + texte)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86000"/>
            <a:ext cx="49377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0,93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8404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ROC-AUC  sur domain_test (n = 585)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976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Recall fraude :  92 %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84632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CADCFC"/>
                </a:solidFill>
                <a:latin typeface="Calibri"/>
              </a:rPr>
              <a:t>Le texte synthétique fournit un signal complémentaire décisif.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97880"/>
            <a:ext cx="11247120" cy="7772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12471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GAIN  :  +0,54 ROC-AUC   ·   +74 points de recall fraude   ·   F1 :  0,25  →  0,91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Démonstration  —  outil de gestion de sinistre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66582"/>
                </a:solidFill>
                <a:latin typeface="Calibri"/>
              </a:rPr>
              <a:t>Application Streamlit avec formulaire structuré et décision interprétable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L'application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Formulaire 7 sections : coordonnées, bien, sinistre, estimation, tiers, mesures, photo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Décision en 3 niveaux : Légitime / À expertiser / Fraude probable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Seuils calibrés : max recall sous contrainte précision ≥ 0,85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Heatmap d'occlusion : zones de l'image utilisées par le modèle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Décomposition : score image + score multimodal + features texte saillantes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•  </a:t>
            </a:r>
            <a:r>
              <a:rPr sz="1300">
                <a:solidFill>
                  <a:srgbClr val="1A1A2E"/>
                </a:solidFill>
                <a:latin typeface="Calibri"/>
              </a:rPr>
              <a:t>Variante lite (CPU-only, 10 Mo) déployable sur HF Spaces gratuit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554480"/>
            <a:ext cx="5303520" cy="4937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Scénarios de démo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✓  Cas légitime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48463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Photo smartphone d'un dégât réel + texte spécifique
→ scores faibles, décision  Légitime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8404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✗  Cas frauduleux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51960"/>
            <a:ext cx="48463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Image SDXL + déclaration vague et emphatique
→ scores élevés, décision  Fraude probable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669280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Latence cible : 5–10 s/dossier (CPU lite),
2–3 s avec GPU L4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Explicabilité  —  pourquoi le modèle dit 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66582"/>
                </a:solidFill>
                <a:latin typeface="Calibri"/>
              </a:rPr>
              <a:t>Trois mécanismes complémentaires pour justifier chaque verdict — exigence AI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611880" cy="365760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61188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6118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Occlusion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5468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Patch glissant (48 px) sur l'image. La zone qui fait chuter le score est celle utilisée par le modèle. Model-agnostic, fonctionne sur sklearn sans besoin de gradient.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00600"/>
            <a:ext cx="3611880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36118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Calibri"/>
              </a:rPr>
              <a:t>Avantage : utilisable avec tout classifieur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691640"/>
            <a:ext cx="3611880" cy="365760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691640"/>
            <a:ext cx="361188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691640"/>
            <a:ext cx="36118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SHAP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423160"/>
            <a:ext cx="315468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Décomposition de chaque prédiction en contribution par feature. LinearExplainer pour la régression logistique image, TreeExplainer pour XGBoost multimodal.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4800600"/>
            <a:ext cx="3611880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4800600"/>
            <a:ext cx="36118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Calibri"/>
              </a:rPr>
              <a:t>Importance globale + locale (waterfall)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691640"/>
            <a:ext cx="3611880" cy="365760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691640"/>
            <a:ext cx="361188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691640"/>
            <a:ext cx="36118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Décomposition par axe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423160"/>
            <a:ext cx="315468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Score image + score multimodal + table des features texte saillantes affichée dans l'interface Streamlit pour permettre au gestionnaire d'identifier la source du verdict.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4800600"/>
            <a:ext cx="3611880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800600"/>
            <a:ext cx="36118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Calibri"/>
              </a:rPr>
              <a:t>Couche métier interprétable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623560"/>
            <a:ext cx="11064240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Tous trois exposés dans l'interface utilisateur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Le gestionnaire de sinistre conserve le dernier mot — le modèle est un assistant, pas un décideur.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Limites identifiées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66582"/>
                </a:solidFill>
                <a:latin typeface="Calibri"/>
              </a:rPr>
              <a:t>On les connaît, on les assume, on indique comment les lever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1907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Photos réelles non issues de dossiers de sinistres validés. Généralisation au monde réel à confirmer.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1064240" cy="86868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67919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06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Générateurs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26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18 % de recall sur SDXL Turbo (vs 88 % SD 1.4 vu en train). Réentraînement trimestriel nécessaire.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1064240" cy="86868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63931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661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Robustesse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862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Compression JPEG forte ou bruit gaussien sur image SDXL : convergence des scores réel/synthétique.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34840"/>
            <a:ext cx="11064240" cy="86868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5994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262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Apprentissage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463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Saturation à 2 400 images. Plus de données du même type n'aidera pas. Changer d'architecture.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F6F8FC"/>
          </a:solidFill>
          <a:ln w="6350">
            <a:solidFill>
              <a:srgbClr val="D8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555955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486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Texte synthétique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8064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Déclarations Mistral, pas vraies productions d'assurés. Validation sur corpus réel à faire.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E74C3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Pipeline multimodal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CLIP + BLIP-2 + LLaVA côté image, Mistral judge côté texte, deux classifieurs en cascade.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E74C3C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14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Performance démontrée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803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ROC-AUC = 0,93 sur le domaine habitation (vs 0,39 image seule). Gain multimodal :  +0,54.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E74C3C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74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Outil utilisable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404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App Streamlit fonctionnelle, formulaire structuré, décision à 3 niveaux, heatmap d'explication.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E74C3C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34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Limites assumées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006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Généralisation cross-générateur à renforcer, robustesse adversariale à tester en V2.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E74C3C"/>
                </a:solidFill>
                <a:latin typeface="Calibr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